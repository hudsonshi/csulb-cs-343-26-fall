
<file path=[Content_Types].xml><?xml version="1.0" encoding="utf-8"?>
<Types xmlns="http://schemas.openxmlformats.org/package/2006/content-types"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" d="1"/>
          <a:sy n="1" d="1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10" name="Rectangle 9"/>
          <p:cNvSpPr>
            <a:spLocks noGrp="1"/>
          </p:cNvSpPr>
          <p:nvPr/>
        </p:nvSpPr>
        <p:spPr>
          <a:xfrm>
            <a:off x="0" y="6353547"/>
            <a:ext cx="12192000" cy="5044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1" name="Triangle 10"/>
          <p:cNvSpPr>
            <a:spLocks noGrp="1"/>
          </p:cNvSpPr>
          <p:nvPr/>
        </p:nvSpPr>
        <p:spPr>
          <a:xfrm>
            <a:off x="399810" y="6103973"/>
            <a:ext cx="1057836" cy="541128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8476" y="6561997"/>
            <a:ext cx="1800224" cy="125128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176" y="6509469"/>
            <a:ext cx="2248720" cy="230184"/>
          </a:xfrm>
          <a:prstGeom prst="rect">
            <a:avLst/>
          </a:prstGeom>
        </p:spPr>
      </p:pic>
      <p:sp>
        <p:nvSpPr>
          <p:cNvPr id="15" name="Rectangle 14"/>
          <p:cNvSpPr>
            <a:spLocks noGrp="1"/>
          </p:cNvSpPr>
          <p:nvPr/>
        </p:nvSpPr>
        <p:spPr>
          <a:xfrm>
            <a:off x="0" y="6353547"/>
            <a:ext cx="12192000" cy="5044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6" name="Triangle 15"/>
          <p:cNvSpPr>
            <a:spLocks noGrp="1"/>
          </p:cNvSpPr>
          <p:nvPr/>
        </p:nvSpPr>
        <p:spPr>
          <a:xfrm>
            <a:off x="399810" y="6103973"/>
            <a:ext cx="1057836" cy="541128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8476" y="6561997"/>
            <a:ext cx="1800224" cy="125128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176" y="6509469"/>
            <a:ext cx="2248720" cy="23018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t>Drag picture to placeholder or click icon to add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image" Target="../media/image2.emf"/><Relationship Id="rId10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lumMod val="90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736600"/>
            <a:ext cx="10515600" cy="954088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902075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0" y="6353547"/>
            <a:ext cx="12192000" cy="5044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9" name="Triangle 8"/>
          <p:cNvSpPr>
            <a:spLocks noGrp="1"/>
          </p:cNvSpPr>
          <p:nvPr/>
        </p:nvSpPr>
        <p:spPr>
          <a:xfrm>
            <a:off x="399810" y="6103973"/>
            <a:ext cx="1057836" cy="541128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pic>
        <p:nvPicPr>
          <p:cNvPr id="23" name="Picture 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68476" y="6561997"/>
            <a:ext cx="1800224" cy="125128"/>
          </a:xfrm>
          <a:prstGeom prst="rect">
            <a:avLst/>
          </a:prstGeom>
        </p:spPr>
      </p:pic>
      <p:pic>
        <p:nvPicPr>
          <p:cNvPr id="24" name="Picture 1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9176" y="6509469"/>
            <a:ext cx="2248720" cy="230184"/>
          </a:xfrm>
          <a:prstGeom prst="rect">
            <a:avLst/>
          </a:prstGeom>
        </p:spPr>
      </p:pic>
      <p:sp>
        <p:nvSpPr>
          <p:cNvPr id="13" name="Rectangle 12"/>
          <p:cNvSpPr>
            <a:spLocks noGrp="1"/>
          </p:cNvSpPr>
          <p:nvPr/>
        </p:nvSpPr>
        <p:spPr>
          <a:xfrm>
            <a:off x="0" y="6365206"/>
            <a:ext cx="12191999" cy="4927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4" name="Triangle 13"/>
          <p:cNvSpPr>
            <a:spLocks noGrp="1"/>
          </p:cNvSpPr>
          <p:nvPr/>
        </p:nvSpPr>
        <p:spPr>
          <a:xfrm>
            <a:off x="399809" y="6121400"/>
            <a:ext cx="1057835" cy="528621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pic>
        <p:nvPicPr>
          <p:cNvPr id="27" name="Picture 1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68475" y="6568838"/>
            <a:ext cx="1800223" cy="122236"/>
          </a:xfrm>
          <a:prstGeom prst="rect">
            <a:avLst/>
          </a:prstGeom>
        </p:spPr>
      </p:pic>
      <p:pic>
        <p:nvPicPr>
          <p:cNvPr id="28" name="Picture 1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9175" y="6517524"/>
            <a:ext cx="2248719" cy="22486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algn="l">
        <a:lnSpc>
          <a:spcPct val="90000"/>
        </a:lnSpc>
        <a:buNone/>
        <a:defRPr sz="4400" b="1" i="0">
          <a:solidFill>
            <a:schemeClr val="tx1"/>
          </a:solidFill>
          <a:latin typeface="Helvetica"/>
          <a:ea typeface="Helvetica"/>
          <a:cs typeface="Helvetica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 b="0" i="0">
          <a:solidFill>
            <a:schemeClr val="tx1"/>
          </a:solidFill>
          <a:latin typeface="Helvetica"/>
          <a:ea typeface="Helvetica"/>
          <a:cs typeface="Helvetica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 b="0" i="0">
          <a:solidFill>
            <a:schemeClr val="tx1"/>
          </a:solidFill>
          <a:latin typeface="Helvetica"/>
          <a:ea typeface="Helvetica"/>
          <a:cs typeface="Helvetica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 b="0" i="0">
          <a:solidFill>
            <a:schemeClr val="tx1"/>
          </a:solidFill>
          <a:latin typeface="Helvetica"/>
          <a:ea typeface="Helvetica"/>
          <a:cs typeface="Helvetica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 b="0" i="0">
          <a:solidFill>
            <a:schemeClr val="tx1"/>
          </a:solidFill>
          <a:latin typeface="Helvetica"/>
          <a:ea typeface="Helvetica"/>
          <a:cs typeface="Helvetica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 b="0" i="0">
          <a:solidFill>
            <a:schemeClr val="tx1"/>
          </a:solidFill>
          <a:latin typeface="Helvetica"/>
          <a:ea typeface="Helvetica"/>
          <a:cs typeface="Helvetica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emf"/><Relationship Id="rId1" Type="http://schemas.openxmlformats.org/officeDocument/2006/relationships/image" Target="../media/image1.emf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emf"/><Relationship Id="rId1" Type="http://schemas.openxmlformats.org/officeDocument/2006/relationships/image" Target="../media/image1.emf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emf"/><Relationship Id="rId1" Type="http://schemas.openxmlformats.org/officeDocument/2006/relationships/image" Target="../media/image1.emf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emf"/><Relationship Id="rId1" Type="http://schemas.openxmlformats.org/officeDocument/2006/relationships/image" Target="../media/image1.emf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emf"/><Relationship Id="rId1" Type="http://schemas.openxmlformats.org/officeDocument/2006/relationships/image" Target="../media/image1.emf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emf"/><Relationship Id="rId1" Type="http://schemas.openxmlformats.org/officeDocument/2006/relationships/image" Target="../media/image1.emf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emf"/><Relationship Id="rId1" Type="http://schemas.openxmlformats.org/officeDocument/2006/relationships/image" Target="../media/image1.emf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emf"/><Relationship Id="rId1" Type="http://schemas.openxmlformats.org/officeDocument/2006/relationships/image" Target="../media/image1.emf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emf"/><Relationship Id="rId1" Type="http://schemas.openxmlformats.org/officeDocument/2006/relationships/image" Target="../media/image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buNone/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CSULB CS 343</a:t>
            </a:r>
            <a:endParaRPr sz="2700" b="1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ctr">
              <a:buNone/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Week 2: Requirements Engineering &amp; User Stories</a:t>
            </a:r>
            <a:endParaRPr sz="2700" b="1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860574"/>
            <a:ext cx="9144000" cy="1655762"/>
          </a:xfrm>
        </p:spPr>
        <p:txBody>
          <a:bodyPr vert="horz" lIns="91440" tIns="45720" rIns="91440" bIns="45720" anchor="t">
            <a:normAutofit/>
          </a:bodyPr>
          <a:lstStyle/>
          <a:p>
            <a:pPr algn="ctr">
              <a:buNone/>
              <a:defRPr sz="1800">
                <a:solidFill>
                  <a:srgbClr val="000000"/>
                </a:solidFill>
              </a:defRPr>
            </a:pPr>
            <a:r>
              <a:rPr sz="18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Fall 2026 - From vague ideas to clear specifications</a:t>
            </a:r>
            <a:endParaRPr sz="180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11" name="TextBox 10"/>
          <p:cNvSpPr>
            <a:spLocks noGrp="1"/>
          </p:cNvSpPr>
          <p:nvPr/>
        </p:nvSpPr>
        <p:spPr>
          <a:xfrm>
            <a:off x="839788" y="1392943"/>
            <a:ext cx="880565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Learning Objectives</a:t>
            </a:r>
            <a:endParaRPr sz="2100" b="1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</p:txBody>
      </p:sp>
      <p:sp>
        <p:nvSpPr>
          <p:cNvPr id="12" name="TextBox 11"/>
          <p:cNvSpPr>
            <a:spLocks noGrp="1"/>
          </p:cNvSpPr>
          <p:nvPr/>
        </p:nvSpPr>
        <p:spPr>
          <a:xfrm>
            <a:off x="839788" y="2134184"/>
            <a:ext cx="52997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What you will achieve today</a:t>
            </a:r>
            <a:endParaRPr sz="1350" b="1">
              <a:solidFill>
                <a:srgbClr val="44546A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" name="TextBox 1"/>
          <p:cNvSpPr>
            <a:spLocks noGrp="1"/>
          </p:cNvSpPr>
          <p:nvPr/>
        </p:nvSpPr>
        <p:spPr>
          <a:xfrm>
            <a:off x="839788" y="3292168"/>
            <a:ext cx="679472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By the end of this session, you will be able to:</a:t>
            </a:r>
            <a:endParaRPr sz="120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Distinguish functional from non-functional requirements</a:t>
            </a:r>
            <a:endParaRPr sz="120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Write clear user stories with acceptance criteria</a:t>
            </a:r>
            <a:endParaRPr sz="120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Design API contracts using OpenAPI/Swagger</a:t>
            </a:r>
            <a:endParaRPr sz="120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Use AI to refine ambiguous requirements</a:t>
            </a:r>
            <a:endParaRPr sz="120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Conduct effective stakeholder interviews</a:t>
            </a:r>
            <a:endParaRPr sz="120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0" y="6353547"/>
            <a:ext cx="12192000" cy="5044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0" name="Triangle 9"/>
          <p:cNvSpPr>
            <a:spLocks noGrp="1"/>
          </p:cNvSpPr>
          <p:nvPr/>
        </p:nvSpPr>
        <p:spPr>
          <a:xfrm>
            <a:off x="399810" y="6103973"/>
            <a:ext cx="1057836" cy="541128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pic>
        <p:nvPicPr>
          <p:cNvPr id="21" name="Picture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8476" y="6561997"/>
            <a:ext cx="1800224" cy="125128"/>
          </a:xfrm>
          <a:prstGeom prst="rect">
            <a:avLst/>
          </a:prstGeom>
        </p:spPr>
      </p:pic>
      <p:pic>
        <p:nvPicPr>
          <p:cNvPr id="22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176" y="6509469"/>
            <a:ext cx="2248720" cy="23018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11" name="TextBox 10"/>
          <p:cNvSpPr>
            <a:spLocks noGrp="1"/>
          </p:cNvSpPr>
          <p:nvPr/>
        </p:nvSpPr>
        <p:spPr>
          <a:xfrm>
            <a:off x="839788" y="1392943"/>
            <a:ext cx="880565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What Are Requirements?</a:t>
            </a:r>
            <a:endParaRPr sz="2100" b="1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</p:txBody>
      </p:sp>
      <p:sp>
        <p:nvSpPr>
          <p:cNvPr id="12" name="TextBox 11"/>
          <p:cNvSpPr>
            <a:spLocks noGrp="1"/>
          </p:cNvSpPr>
          <p:nvPr/>
        </p:nvSpPr>
        <p:spPr>
          <a:xfrm>
            <a:off x="839788" y="2134184"/>
            <a:ext cx="5299788" cy="94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The foundation of every software project</a:t>
            </a:r>
            <a:endParaRPr sz="1350" b="1">
              <a:solidFill>
                <a:srgbClr val="44546A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" name="TextBox 1"/>
          <p:cNvSpPr>
            <a:spLocks noGrp="1"/>
          </p:cNvSpPr>
          <p:nvPr/>
        </p:nvSpPr>
        <p:spPr>
          <a:xfrm>
            <a:off x="839788" y="3292168"/>
            <a:ext cx="679472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Requirements define WHAT the system should do</a:t>
            </a:r>
            <a:endParaRPr sz="120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Functional: specific behaviors (e.g. user can reset password)</a:t>
            </a:r>
            <a:endParaRPr sz="120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Non-functional: performance, security, scalability, usability</a:t>
            </a:r>
            <a:endParaRPr sz="120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Bad requirements are the #1 cause of project failure</a:t>
            </a:r>
            <a:endParaRPr sz="120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Cost of fixing a bad requirement grows 10x per phase</a:t>
            </a:r>
            <a:endParaRPr sz="120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Always ask: How will we verify this requirement?</a:t>
            </a:r>
            <a:endParaRPr sz="120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0" y="6353547"/>
            <a:ext cx="12192000" cy="5044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0" name="Triangle 9"/>
          <p:cNvSpPr>
            <a:spLocks noGrp="1"/>
          </p:cNvSpPr>
          <p:nvPr/>
        </p:nvSpPr>
        <p:spPr>
          <a:xfrm>
            <a:off x="399810" y="6103973"/>
            <a:ext cx="1057836" cy="541128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pic>
        <p:nvPicPr>
          <p:cNvPr id="21" name="Picture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8476" y="6561997"/>
            <a:ext cx="1800224" cy="125128"/>
          </a:xfrm>
          <a:prstGeom prst="rect">
            <a:avLst/>
          </a:prstGeom>
        </p:spPr>
      </p:pic>
      <p:pic>
        <p:nvPicPr>
          <p:cNvPr id="22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176" y="6509469"/>
            <a:ext cx="2248720" cy="23018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11" name="TextBox 10"/>
          <p:cNvSpPr>
            <a:spLocks noGrp="1"/>
          </p:cNvSpPr>
          <p:nvPr/>
        </p:nvSpPr>
        <p:spPr>
          <a:xfrm>
            <a:off x="839788" y="1392943"/>
            <a:ext cx="880565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User Stories: The Agile Way</a:t>
            </a:r>
            <a:endParaRPr sz="2100" b="1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</p:txBody>
      </p:sp>
      <p:sp>
        <p:nvSpPr>
          <p:cNvPr id="12" name="TextBox 11"/>
          <p:cNvSpPr>
            <a:spLocks noGrp="1"/>
          </p:cNvSpPr>
          <p:nvPr/>
        </p:nvSpPr>
        <p:spPr>
          <a:xfrm>
            <a:off x="839788" y="2134184"/>
            <a:ext cx="5299788" cy="94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As a &lt;role&gt;, I want &lt;goal&gt; so that &lt;reason&gt;</a:t>
            </a:r>
            <a:endParaRPr sz="1350" b="1">
              <a:solidFill>
                <a:srgbClr val="44546A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" name="TextBox 1"/>
          <p:cNvSpPr>
            <a:spLocks noGrp="1"/>
          </p:cNvSpPr>
          <p:nvPr/>
        </p:nvSpPr>
        <p:spPr>
          <a:xfrm>
            <a:off x="839788" y="3292168"/>
            <a:ext cx="6794726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Format: As a [role], I want [goal] so that [reason]</a:t>
            </a:r>
            <a:endParaRPr sz="120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Keeps focus on user value, not implementation</a:t>
            </a:r>
            <a:endParaRPr sz="120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Example: As a customer, I want to filter by price so that I can find affordable items</a:t>
            </a:r>
            <a:endParaRPr sz="120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Acceptance criteria: specific, testable conditions</a:t>
            </a:r>
            <a:endParaRPr sz="120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INVEST: Independent, Negotiable, Valuable, Estimable, Small, Testable</a:t>
            </a:r>
            <a:endParaRPr sz="120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Stories vs Tasks: stories describe value, tasks describe work</a:t>
            </a:r>
            <a:endParaRPr sz="120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0" y="6353547"/>
            <a:ext cx="12192000" cy="5044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0" name="Triangle 9"/>
          <p:cNvSpPr>
            <a:spLocks noGrp="1"/>
          </p:cNvSpPr>
          <p:nvPr/>
        </p:nvSpPr>
        <p:spPr>
          <a:xfrm>
            <a:off x="399810" y="6103973"/>
            <a:ext cx="1057836" cy="541128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pic>
        <p:nvPicPr>
          <p:cNvPr id="21" name="Picture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8476" y="6561997"/>
            <a:ext cx="1800224" cy="125128"/>
          </a:xfrm>
          <a:prstGeom prst="rect">
            <a:avLst/>
          </a:prstGeom>
        </p:spPr>
      </p:pic>
      <p:pic>
        <p:nvPicPr>
          <p:cNvPr id="22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176" y="6509469"/>
            <a:ext cx="2248720" cy="23018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11" name="TextBox 10"/>
          <p:cNvSpPr>
            <a:spLocks noGrp="1"/>
          </p:cNvSpPr>
          <p:nvPr/>
        </p:nvSpPr>
        <p:spPr>
          <a:xfrm>
            <a:off x="839788" y="1392943"/>
            <a:ext cx="880565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Elicitation Techniques</a:t>
            </a:r>
            <a:endParaRPr sz="2100" b="1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</p:txBody>
      </p:sp>
      <p:sp>
        <p:nvSpPr>
          <p:cNvPr id="12" name="TextBox 11"/>
          <p:cNvSpPr>
            <a:spLocks noGrp="1"/>
          </p:cNvSpPr>
          <p:nvPr/>
        </p:nvSpPr>
        <p:spPr>
          <a:xfrm>
            <a:off x="839788" y="2134184"/>
            <a:ext cx="5299788" cy="94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How to discover what stakeholders actually need</a:t>
            </a:r>
            <a:endParaRPr sz="1350" b="1">
              <a:solidFill>
                <a:srgbClr val="44546A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" name="TextBox 1"/>
          <p:cNvSpPr>
            <a:spLocks noGrp="1"/>
          </p:cNvSpPr>
          <p:nvPr/>
        </p:nvSpPr>
        <p:spPr>
          <a:xfrm>
            <a:off x="839788" y="3292168"/>
            <a:ext cx="6794726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Interviews: 1-on-1 to understand stakeholder needs</a:t>
            </a:r>
            <a:endParaRPr sz="120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Surveys &amp; questionnaires: broad input from many users</a:t>
            </a:r>
            <a:endParaRPr sz="120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Observation: shadow users doing their work</a:t>
            </a:r>
            <a:endParaRPr sz="120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Prototypes: build a quick mockup to validate ideas</a:t>
            </a:r>
            <a:endParaRPr sz="120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Document analysis: study existing forms and reports</a:t>
            </a:r>
            <a:endParaRPr sz="120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Brainstorming: group ideation sessions</a:t>
            </a:r>
            <a:endParaRPr sz="120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Key skill: Ask why 5 times to get to the real need</a:t>
            </a:r>
            <a:endParaRPr sz="120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0" y="6353547"/>
            <a:ext cx="12192000" cy="5044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0" name="Triangle 9"/>
          <p:cNvSpPr>
            <a:spLocks noGrp="1"/>
          </p:cNvSpPr>
          <p:nvPr/>
        </p:nvSpPr>
        <p:spPr>
          <a:xfrm>
            <a:off x="399810" y="6103973"/>
            <a:ext cx="1057836" cy="541128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pic>
        <p:nvPicPr>
          <p:cNvPr id="21" name="Picture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8476" y="6561997"/>
            <a:ext cx="1800224" cy="125128"/>
          </a:xfrm>
          <a:prstGeom prst="rect">
            <a:avLst/>
          </a:prstGeom>
        </p:spPr>
      </p:pic>
      <p:pic>
        <p:nvPicPr>
          <p:cNvPr id="22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176" y="6509469"/>
            <a:ext cx="2248720" cy="23018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11" name="TextBox 10"/>
          <p:cNvSpPr>
            <a:spLocks noGrp="1"/>
          </p:cNvSpPr>
          <p:nvPr/>
        </p:nvSpPr>
        <p:spPr>
          <a:xfrm>
            <a:off x="839788" y="1392943"/>
            <a:ext cx="880565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API Contract Design (OpenAPI)</a:t>
            </a:r>
            <a:endParaRPr sz="2100" b="1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</p:txBody>
      </p:sp>
      <p:sp>
        <p:nvSpPr>
          <p:cNvPr id="12" name="TextBox 11"/>
          <p:cNvSpPr>
            <a:spLocks noGrp="1"/>
          </p:cNvSpPr>
          <p:nvPr/>
        </p:nvSpPr>
        <p:spPr>
          <a:xfrm>
            <a:off x="839788" y="2134184"/>
            <a:ext cx="5299788" cy="94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Specifying service communication</a:t>
            </a:r>
            <a:endParaRPr sz="1350" b="1">
              <a:solidFill>
                <a:srgbClr val="44546A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" name="TextBox 1"/>
          <p:cNvSpPr>
            <a:spLocks noGrp="1"/>
          </p:cNvSpPr>
          <p:nvPr/>
        </p:nvSpPr>
        <p:spPr>
          <a:xfrm>
            <a:off x="839788" y="3292168"/>
            <a:ext cx="6794726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API contracts define how services talk to each other</a:t>
            </a:r>
            <a:endParaRPr sz="120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OpenAPI (Swagger): standard REST API specification format</a:t>
            </a:r>
            <a:endParaRPr sz="120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Core parts: endpoints, methods, parameters, request body, responses</a:t>
            </a:r>
            <a:endParaRPr sz="120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Example: POST /api/users with { name, email, password }</a:t>
            </a:r>
            <a:endParaRPr sz="120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Tools: Swagger Editor, Swagger UI, Stoplight</a:t>
            </a:r>
            <a:endParaRPr sz="120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AI can generate initial API specs from descriptions</a:t>
            </a:r>
            <a:endParaRPr sz="120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Contracts enable frontend + backend teams to work in parallel</a:t>
            </a:r>
            <a:endParaRPr sz="120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0" y="6353547"/>
            <a:ext cx="12192000" cy="5044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0" name="Triangle 9"/>
          <p:cNvSpPr>
            <a:spLocks noGrp="1"/>
          </p:cNvSpPr>
          <p:nvPr/>
        </p:nvSpPr>
        <p:spPr>
          <a:xfrm>
            <a:off x="399810" y="6103973"/>
            <a:ext cx="1057836" cy="541128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pic>
        <p:nvPicPr>
          <p:cNvPr id="21" name="Picture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8476" y="6561997"/>
            <a:ext cx="1800224" cy="125128"/>
          </a:xfrm>
          <a:prstGeom prst="rect">
            <a:avLst/>
          </a:prstGeom>
        </p:spPr>
      </p:pic>
      <p:pic>
        <p:nvPicPr>
          <p:cNvPr id="22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176" y="6509469"/>
            <a:ext cx="2248720" cy="23018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11" name="TextBox 10"/>
          <p:cNvSpPr>
            <a:spLocks noGrp="1"/>
          </p:cNvSpPr>
          <p:nvPr/>
        </p:nvSpPr>
        <p:spPr>
          <a:xfrm>
            <a:off x="839788" y="1392943"/>
            <a:ext cx="880565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From Vague to Specific</a:t>
            </a:r>
            <a:endParaRPr sz="2100" b="1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</p:txBody>
      </p:sp>
      <p:sp>
        <p:nvSpPr>
          <p:cNvPr id="12" name="TextBox 11"/>
          <p:cNvSpPr>
            <a:spLocks noGrp="1"/>
          </p:cNvSpPr>
          <p:nvPr/>
        </p:nvSpPr>
        <p:spPr>
          <a:xfrm>
            <a:off x="839788" y="2134184"/>
            <a:ext cx="5299788" cy="94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Real example: E-commerce checkout</a:t>
            </a:r>
            <a:endParaRPr sz="1350" b="1">
              <a:solidFill>
                <a:srgbClr val="44546A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" name="TextBox 1"/>
          <p:cNvSpPr>
            <a:spLocks noGrp="1"/>
          </p:cNvSpPr>
          <p:nvPr/>
        </p:nvSpPr>
        <p:spPr>
          <a:xfrm>
            <a:off x="839788" y="3292168"/>
            <a:ext cx="6794726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Vague: 'Users need to checkout'</a:t>
            </a:r>
            <a:endParaRPr sz="120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Refined stories:</a:t>
            </a:r>
            <a:endParaRPr sz="120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1. As a customer, I want to review my cart before paying</a:t>
            </a:r>
            <a:endParaRPr sz="120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2. As a customer, I want to enter a discount code</a:t>
            </a:r>
            <a:endParaRPr sz="120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3. As a system, I want to validate inventory before confirming</a:t>
            </a:r>
            <a:endParaRPr sz="120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Non-func: checkout must complete in under 3 seconds</a:t>
            </a:r>
            <a:endParaRPr sz="120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AC for story 1: cart shows items, quantities, prices, total</a:t>
            </a:r>
            <a:endParaRPr sz="120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0" y="6353547"/>
            <a:ext cx="12192000" cy="5044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0" name="Triangle 9"/>
          <p:cNvSpPr>
            <a:spLocks noGrp="1"/>
          </p:cNvSpPr>
          <p:nvPr/>
        </p:nvSpPr>
        <p:spPr>
          <a:xfrm>
            <a:off x="399810" y="6103973"/>
            <a:ext cx="1057836" cy="541128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pic>
        <p:nvPicPr>
          <p:cNvPr id="21" name="Picture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8476" y="6561997"/>
            <a:ext cx="1800224" cy="125128"/>
          </a:xfrm>
          <a:prstGeom prst="rect">
            <a:avLst/>
          </a:prstGeom>
        </p:spPr>
      </p:pic>
      <p:pic>
        <p:nvPicPr>
          <p:cNvPr id="22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176" y="6509469"/>
            <a:ext cx="2248720" cy="23018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11" name="TextBox 10"/>
          <p:cNvSpPr>
            <a:spLocks noGrp="1"/>
          </p:cNvSpPr>
          <p:nvPr/>
        </p:nvSpPr>
        <p:spPr>
          <a:xfrm>
            <a:off x="839788" y="1392943"/>
            <a:ext cx="880565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AI Boost: Refining Requirements</a:t>
            </a:r>
            <a:endParaRPr sz="2100" b="1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</p:txBody>
      </p:sp>
      <p:sp>
        <p:nvSpPr>
          <p:cNvPr id="12" name="TextBox 11"/>
          <p:cNvSpPr>
            <a:spLocks noGrp="1"/>
          </p:cNvSpPr>
          <p:nvPr/>
        </p:nvSpPr>
        <p:spPr>
          <a:xfrm>
            <a:off x="839788" y="2134184"/>
            <a:ext cx="52997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Use AI to improve story quality</a:t>
            </a:r>
            <a:endParaRPr sz="1350" b="1">
              <a:solidFill>
                <a:srgbClr val="44546A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" name="TextBox 1"/>
          <p:cNvSpPr>
            <a:spLocks noGrp="1"/>
          </p:cNvSpPr>
          <p:nvPr/>
        </p:nvSpPr>
        <p:spPr>
          <a:xfrm>
            <a:off x="839788" y="3292168"/>
            <a:ext cx="6794726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Feed vague requirements into ChatGPT/Claude</a:t>
            </a:r>
            <a:endParaRPr sz="120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Prompt: Help me write clear user stories with AC for an e-commerce checkout</a:t>
            </a:r>
            <a:endParaRPr sz="120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AI suggests missing edge cases (empty cart, expired coupon, network failure)</a:t>
            </a:r>
            <a:endParaRPr sz="120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AI generates mock API responses for testing</a:t>
            </a:r>
            <a:endParaRPr sz="120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Always verify AI output: it may miss business rules</a:t>
            </a:r>
            <a:endParaRPr sz="120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AI is a brainstorming partner, not the decision maker</a:t>
            </a:r>
            <a:endParaRPr sz="120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0" y="6353547"/>
            <a:ext cx="12192000" cy="5044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0" name="Triangle 9"/>
          <p:cNvSpPr>
            <a:spLocks noGrp="1"/>
          </p:cNvSpPr>
          <p:nvPr/>
        </p:nvSpPr>
        <p:spPr>
          <a:xfrm>
            <a:off x="399810" y="6103973"/>
            <a:ext cx="1057836" cy="541128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pic>
        <p:nvPicPr>
          <p:cNvPr id="21" name="Picture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8476" y="6561997"/>
            <a:ext cx="1800224" cy="125128"/>
          </a:xfrm>
          <a:prstGeom prst="rect">
            <a:avLst/>
          </a:prstGeom>
        </p:spPr>
      </p:pic>
      <p:pic>
        <p:nvPicPr>
          <p:cNvPr id="22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176" y="6509469"/>
            <a:ext cx="2248720" cy="23018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11" name="TextBox 10"/>
          <p:cNvSpPr>
            <a:spLocks noGrp="1"/>
          </p:cNvSpPr>
          <p:nvPr/>
        </p:nvSpPr>
        <p:spPr>
          <a:xfrm>
            <a:off x="839788" y="1392943"/>
            <a:ext cx="880565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Soft Skills: Active Listening</a:t>
            </a:r>
            <a:endParaRPr sz="2100" b="1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</p:txBody>
      </p:sp>
      <p:sp>
        <p:nvSpPr>
          <p:cNvPr id="12" name="TextBox 11"/>
          <p:cNvSpPr>
            <a:spLocks noGrp="1"/>
          </p:cNvSpPr>
          <p:nvPr/>
        </p:nvSpPr>
        <p:spPr>
          <a:xfrm>
            <a:off x="839788" y="2134184"/>
            <a:ext cx="5299788" cy="94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Role-play stakeholder interviews</a:t>
            </a:r>
            <a:endParaRPr sz="1350" b="1">
              <a:solidFill>
                <a:srgbClr val="44546A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" name="TextBox 1"/>
          <p:cNvSpPr>
            <a:spLocks noGrp="1"/>
          </p:cNvSpPr>
          <p:nvPr/>
        </p:nvSpPr>
        <p:spPr>
          <a:xfrm>
            <a:off x="839788" y="3292168"/>
            <a:ext cx="679472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In pairs: one is the Product Owner, one is the Developer</a:t>
            </a:r>
            <a:endParaRPr sz="120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PO describes a feature vaguely</a:t>
            </a:r>
            <a:endParaRPr sz="120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Developer asks clarifying questions (who, what, when, why)</a:t>
            </a:r>
            <a:endParaRPr sz="120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Practice paraphrasing: 'So what I hear you saying is...'</a:t>
            </a:r>
            <a:endParaRPr sz="120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Write 3 user stories from the conversation</a:t>
            </a:r>
            <a:endParaRPr sz="120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Debrief: Which questions helped the most?</a:t>
            </a:r>
            <a:endParaRPr sz="120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0" y="6353547"/>
            <a:ext cx="12192000" cy="5044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0" name="Triangle 9"/>
          <p:cNvSpPr>
            <a:spLocks noGrp="1"/>
          </p:cNvSpPr>
          <p:nvPr/>
        </p:nvSpPr>
        <p:spPr>
          <a:xfrm>
            <a:off x="399810" y="6103973"/>
            <a:ext cx="1057836" cy="541128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pic>
        <p:nvPicPr>
          <p:cNvPr id="21" name="Picture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8476" y="6561997"/>
            <a:ext cx="1800224" cy="125128"/>
          </a:xfrm>
          <a:prstGeom prst="rect">
            <a:avLst/>
          </a:prstGeom>
        </p:spPr>
      </p:pic>
      <p:pic>
        <p:nvPicPr>
          <p:cNvPr id="22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176" y="6509469"/>
            <a:ext cx="2248720" cy="23018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11" name="TextBox 10"/>
          <p:cNvSpPr>
            <a:spLocks noGrp="1"/>
          </p:cNvSpPr>
          <p:nvPr/>
        </p:nvSpPr>
        <p:spPr>
          <a:xfrm>
            <a:off x="839788" y="1392943"/>
            <a:ext cx="880565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Summary &amp; Looking Ahead</a:t>
            </a:r>
            <a:endParaRPr sz="2100" b="1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</p:txBody>
      </p:sp>
      <p:sp>
        <p:nvSpPr>
          <p:cNvPr id="12" name="TextBox 11"/>
          <p:cNvSpPr>
            <a:spLocks noGrp="1"/>
          </p:cNvSpPr>
          <p:nvPr/>
        </p:nvSpPr>
        <p:spPr>
          <a:xfrm>
            <a:off x="839788" y="2134184"/>
            <a:ext cx="52997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Week 2 Recap</a:t>
            </a:r>
            <a:endParaRPr sz="1350" b="1">
              <a:solidFill>
                <a:srgbClr val="44546A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" name="TextBox 1"/>
          <p:cNvSpPr>
            <a:spLocks noGrp="1"/>
          </p:cNvSpPr>
          <p:nvPr/>
        </p:nvSpPr>
        <p:spPr>
          <a:xfrm>
            <a:off x="839788" y="3292168"/>
            <a:ext cx="6794726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Requirements = functional + non-functional</a:t>
            </a:r>
            <a:endParaRPr sz="120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User stories keep us focused on user value</a:t>
            </a:r>
            <a:endParaRPr sz="120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API contracts enable parallel development</a:t>
            </a:r>
            <a:endParaRPr sz="120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AI helps refine vague ideas into specifics</a:t>
            </a:r>
            <a:endParaRPr sz="120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Active listening is an engineer's superpower</a:t>
            </a:r>
            <a:endParaRPr sz="120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Next week: Visual Modeling with UML</a:t>
            </a:r>
            <a:endParaRPr sz="120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Assignment: Write user stories + API contract</a:t>
            </a:r>
            <a:endParaRPr sz="120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0" y="6353547"/>
            <a:ext cx="12192000" cy="5044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0" name="Triangle 9"/>
          <p:cNvSpPr>
            <a:spLocks noGrp="1"/>
          </p:cNvSpPr>
          <p:nvPr/>
        </p:nvSpPr>
        <p:spPr>
          <a:xfrm>
            <a:off x="399810" y="6103973"/>
            <a:ext cx="1057836" cy="541128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pic>
        <p:nvPicPr>
          <p:cNvPr id="21" name="Picture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8476" y="6561997"/>
            <a:ext cx="1800224" cy="125128"/>
          </a:xfrm>
          <a:prstGeom prst="rect">
            <a:avLst/>
          </a:prstGeom>
        </p:spPr>
      </p:pic>
      <p:pic>
        <p:nvPicPr>
          <p:cNvPr id="22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176" y="6509469"/>
            <a:ext cx="2248720" cy="23018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LBSU">
  <a:themeElements>
    <a:clrScheme name="LBSU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ranklin Gothic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LBSU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LBSU">
  <a:themeElements>
    <a:clrScheme name="LBSU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ranklin Gothic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LBSU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3668</Words>
  <Application>WPS 演示</Application>
  <PresentationFormat>Converted Presentation</PresentationFormat>
  <Paragraphs>126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8" baseType="lpstr">
      <vt:lpstr>Arial</vt:lpstr>
      <vt:lpstr>宋体</vt:lpstr>
      <vt:lpstr>Wingdings</vt:lpstr>
      <vt:lpstr>Helvetica</vt:lpstr>
      <vt:lpstr>Helvetica Neue</vt:lpstr>
      <vt:lpstr>Arial</vt:lpstr>
      <vt:lpstr>Franklin Gothic Book</vt:lpstr>
      <vt:lpstr>苹方-简</vt:lpstr>
      <vt:lpstr>微软雅黑</vt:lpstr>
      <vt:lpstr>方正雅意黑 GB18030L2</vt:lpstr>
      <vt:lpstr>宋体</vt:lpstr>
      <vt:lpstr>Arial Unicode MS</vt:lpstr>
      <vt:lpstr>汉仪书宋二KW</vt:lpstr>
      <vt:lpstr>华文楷体</vt:lpstr>
      <vt:lpstr>Calibri</vt:lpstr>
      <vt:lpstr>Helvetica Neue</vt:lpstr>
      <vt:lpstr>Helvetica</vt:lpstr>
      <vt:lpstr>LBSU</vt:lpstr>
      <vt:lpstr>Week 2: Requirements Engineering &amp; User Stories</vt:lpstr>
      <vt:lpstr> </vt:lpstr>
      <vt:lpstr> </vt:lpstr>
      <vt:lpstr> </vt:lpstr>
      <vt:lpstr> </vt:lpstr>
      <vt:lpstr> </vt:lpstr>
      <vt:lpstr> </vt:lpstr>
      <vt:lpstr> </vt:lpstr>
      <vt:lpstr> </vt:lpstr>
      <vt:lpstr>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CSULB CS 343Week 2: Requirements Engineering &amp; User Stories</dc:title>
  <dc:creator>Walnut Exporter</dc:creator>
  <cp:lastModifiedBy>Handa Shi  施翰達也</cp:lastModifiedBy>
  <cp:revision>1</cp:revision>
  <dcterms:created xsi:type="dcterms:W3CDTF">2026-07-14T12:43:13Z</dcterms:created>
  <dcterms:modified xsi:type="dcterms:W3CDTF">2026-07-14T12:43:13Z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8382399D13BDE1D1E12E566A02DED69E_42</vt:lpwstr>
  </property>
  <property fmtid="{D5CDD505-2E9C-101B-9397-08002B2CF9AE}" pid="3" name="KSOProductBuildVer">
    <vt:lpwstr>2052-12.1.26035.26035</vt:lpwstr>
  </property>
</Properties>
</file>
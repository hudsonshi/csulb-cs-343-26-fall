
<file path=[Content_Types].xml><?xml version="1.0" encoding="utf-8"?>
<Types xmlns="http://schemas.openxmlformats.org/package/2006/content-types">
  <Default Extension="xml" ContentType="application/vnd.openxmlformats-package.core-properties+xml"/>
  <Default Extension="emf" ContentType="image/x-em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91faeab8b74935" /><Relationship Type="http://schemas.openxmlformats.org/officeDocument/2006/relationships/extended-properties" Target="/docProps/app.xml" Id="Rf36cc3efc1274112" /><Relationship Type="http://schemas.openxmlformats.org/officeDocument/2006/relationships/officeDocument" Target="/ppt/presentation.xml" Id="R8fcd0427281849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d3c6082f814e5c"/>
  </p:sldMasterIdLst>
  <p:notesMasterIdLst>
    <p:notesMasterId xmlns:r="http://schemas.openxmlformats.org/officeDocument/2006/relationships" r:id="R304a1ce001804758"/>
  </p:notesMasterIdLst>
  <p:sldIdLst>
    <p:sldId xmlns:r="http://schemas.openxmlformats.org/officeDocument/2006/relationships" id="256" r:id="Ra2755061e9f0482e"/>
    <p:sldId xmlns:r="http://schemas.openxmlformats.org/officeDocument/2006/relationships" id="257" r:id="R9abce0dd6f204435"/>
    <p:sldId xmlns:r="http://schemas.openxmlformats.org/officeDocument/2006/relationships" id="258" r:id="R67c9946616274b87"/>
    <p:sldId xmlns:r="http://schemas.openxmlformats.org/officeDocument/2006/relationships" id="259" r:id="R11da087a1c0a4bff"/>
    <p:sldId xmlns:r="http://schemas.openxmlformats.org/officeDocument/2006/relationships" id="260" r:id="R50fff46ddd2a4e84"/>
    <p:sldId xmlns:r="http://schemas.openxmlformats.org/officeDocument/2006/relationships" id="261" r:id="Rd5356722baee420e"/>
    <p:sldId xmlns:r="http://schemas.openxmlformats.org/officeDocument/2006/relationships" id="262" r:id="Rc363e6ab11cd4baa"/>
    <p:sldId xmlns:r="http://schemas.openxmlformats.org/officeDocument/2006/relationships" id="263" r:id="R04f0511068e94c8a"/>
    <p:sldId xmlns:r="http://schemas.openxmlformats.org/officeDocument/2006/relationships" id="264" r:id="Rf06b4f6d1a814798"/>
    <p:sldId xmlns:r="http://schemas.openxmlformats.org/officeDocument/2006/relationships" id="265" r:id="R696188fafc0f400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519a03242648b6" /><Relationship Type="http://schemas.openxmlformats.org/officeDocument/2006/relationships/slideMaster" Target="/ppt/slideMasters/slideMaster1.xml" Id="R84d3c6082f814e5c" /><Relationship Type="http://schemas.openxmlformats.org/officeDocument/2006/relationships/notesMaster" Target="/ppt/notesMasters/notesMaster1.xml" Id="R304a1ce001804758" /><Relationship Type="http://schemas.openxmlformats.org/officeDocument/2006/relationships/presProps" Target="/ppt/presProps.xml" Id="Rd6c34269fbb94628" /><Relationship Type="http://schemas.openxmlformats.org/officeDocument/2006/relationships/viewProps" Target="/ppt/viewProps.xml" Id="R7ffa7f16064d487a" /><Relationship Type="http://schemas.openxmlformats.org/officeDocument/2006/relationships/tableStyles" Target="/ppt/tableStyles.xml" Id="R279c3ba2350c48d2" /><Relationship Type="http://schemas.openxmlformats.org/officeDocument/2006/relationships/slide" Target="/ppt/slides/slide1.xml" Id="Ra2755061e9f0482e" /><Relationship Type="http://schemas.openxmlformats.org/officeDocument/2006/relationships/slide" Target="/ppt/slides/slide2.xml" Id="R9abce0dd6f204435" /><Relationship Type="http://schemas.openxmlformats.org/officeDocument/2006/relationships/slide" Target="/ppt/slides/slide3.xml" Id="R67c9946616274b87" /><Relationship Type="http://schemas.openxmlformats.org/officeDocument/2006/relationships/slide" Target="/ppt/slides/slide4.xml" Id="R11da087a1c0a4bff" /><Relationship Type="http://schemas.openxmlformats.org/officeDocument/2006/relationships/slide" Target="/ppt/slides/slide5.xml" Id="R50fff46ddd2a4e84" /><Relationship Type="http://schemas.openxmlformats.org/officeDocument/2006/relationships/slide" Target="/ppt/slides/slide6.xml" Id="Rd5356722baee420e" /><Relationship Type="http://schemas.openxmlformats.org/officeDocument/2006/relationships/slide" Target="/ppt/slides/slide7.xml" Id="Rc363e6ab11cd4baa" /><Relationship Type="http://schemas.openxmlformats.org/officeDocument/2006/relationships/slide" Target="/ppt/slides/slide8.xml" Id="R04f0511068e94c8a" /><Relationship Type="http://schemas.openxmlformats.org/officeDocument/2006/relationships/slide" Target="/ppt/slides/slide9.xml" Id="Rf06b4f6d1a814798" /><Relationship Type="http://schemas.openxmlformats.org/officeDocument/2006/relationships/slide" Target="/ppt/slides/slide10.xml" Id="R696188fafc0f40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d4a1212f8940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a37388bbf44b5f" /><Relationship Type="http://schemas.openxmlformats.org/officeDocument/2006/relationships/notesMaster" Target="/ppt/notesMasters/notesMaster1.xml" Id="R9854aaa767fb49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2c2c8db9684a0c" /><Relationship Type="http://schemas.openxmlformats.org/officeDocument/2006/relationships/notesMaster" Target="/ppt/notesMasters/notesMaster1.xml" Id="Re1998de376d944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c734ea2015489b" /><Relationship Type="http://schemas.openxmlformats.org/officeDocument/2006/relationships/notesMaster" Target="/ppt/notesMasters/notesMaster1.xml" Id="R4391fe9cb39143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1291d691864fb8" /><Relationship Type="http://schemas.openxmlformats.org/officeDocument/2006/relationships/notesMaster" Target="/ppt/notesMasters/notesMaster1.xml" Id="R985a7612042a45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a9e350e6174605" /><Relationship Type="http://schemas.openxmlformats.org/officeDocument/2006/relationships/notesMaster" Target="/ppt/notesMasters/notesMaster1.xml" Id="R57ea3635fe3a45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55ed9de5af4eaa" /><Relationship Type="http://schemas.openxmlformats.org/officeDocument/2006/relationships/notesMaster" Target="/ppt/notesMasters/notesMaster1.xml" Id="R6a0cc4f974ae47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5041401ee704c05" /><Relationship Type="http://schemas.openxmlformats.org/officeDocument/2006/relationships/notesMaster" Target="/ppt/notesMasters/notesMaster1.xml" Id="R2db8ae3bd25949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2047c5350643b2" /><Relationship Type="http://schemas.openxmlformats.org/officeDocument/2006/relationships/notesMaster" Target="/ppt/notesMasters/notesMaster1.xml" Id="Rfc79b2e08d3647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4b5f07ddc474466" /><Relationship Type="http://schemas.openxmlformats.org/officeDocument/2006/relationships/notesMaster" Target="/ppt/notesMasters/notesMaster1.xml" Id="Rf7e2a8f57698439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f638338518444d" /><Relationship Type="http://schemas.openxmlformats.org/officeDocument/2006/relationships/notesMaster" Target="/ppt/notesMasters/notesMaster1.xml" Id="Rba2004e7ef6f40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3197fc2ff8444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7de73cffee485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03a0a7cf6b4a4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b56a85b2aa45e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a63a28452b490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56e2bdc1da4e1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2d389c11364649" /><Relationship Type="http://schemas.openxmlformats.org/officeDocument/2006/relationships/image" Target="/ppt/media/image.emf" Id="R38076c2b007441e3" /><Relationship Type="http://schemas.openxmlformats.org/officeDocument/2006/relationships/image" Target="/ppt/media/image2.emf" Id="R07e65fe918b548a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e2867ef1c244a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8a21f739c44f63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ECC2340-E683-4012-824F-A6508885B0D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4ABB374-023B-46F7-8BC8-F8D9DDD58C4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BA55056-EF37-4EF0-8C1B-4900C52253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B31D388-C69E-4624-BA4C-94D895299E4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E43DEDD-E2B7-44B5-9687-D9C23A04C7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5F62002-D139-41B9-A37A-263D21429A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BB2E565-2E03-4B60-BC57-2B32DB824A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492411F-C87D-4744-A0CC-842AB5FFC8B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FEAD60E-B780-41F8-9545-A43383C1A69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6FACABA-3170-4EED-A33E-F06D1B3EDB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380741B-40B0-42F3-A0E3-93E75FDD32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3D42341-76E5-4ED4-B405-88AD9032C50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329ACE3-8748-4E6B-8F98-D74F444BBB7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4C9AA209-9F77-4435-91AE-87D1931A2A3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6F7A8B8-03F0-464D-8D55-9C5078AE0E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6528E20-CE88-4386-B8A3-AEA4C3198D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12BF6AA-0B51-42A0-AC4F-730B544AEA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0EB7FD2-F57A-42B3-81F9-7AE6E6C983C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844E1B6-4B1E-4667-A430-5C12C398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riangle 10">
            <a:extLst xmlns:a="http://schemas.openxmlformats.org/drawingml/2006/main">
              <a:ext uri="{FF2B5EF4-FFF2-40B4-BE49-F238E27FC236}">
                <a16:creationId xmlns:a16="http://schemas.microsoft.com/office/drawing/2014/main" id="{04E691FB-BC6F-41ED-A932-FC1C363C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076c2b007441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e65fe918b548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DF24DB5-ABE8-4BAB-AB82-1122D6C1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riangle 15">
            <a:extLst xmlns:a="http://schemas.openxmlformats.org/drawingml/2006/main">
              <a:ext uri="{FF2B5EF4-FFF2-40B4-BE49-F238E27FC236}">
                <a16:creationId xmlns:a16="http://schemas.microsoft.com/office/drawing/2014/main" id="{64B29982-89B2-4B53-A859-121EF190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076c2b007441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e65fe918b548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51BD43-5501-440B-BEC3-F3A69D49A1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60C017FA-1A00-4897-8338-6BC8C0338B8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Drag picture to placeholder or click icon to add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C473DA5-316B-4CB6-B7DD-36565A2010C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emf" Id="R5a5d7eb9cf514970" /><Relationship Type="http://schemas.openxmlformats.org/officeDocument/2006/relationships/image" Target="/ppt/media/image2.emf" Id="Re57bff113d414fc4" /><Relationship Type="http://schemas.openxmlformats.org/officeDocument/2006/relationships/theme" Target="/ppt/slideMasters/theme/theme2.xml" Id="Re5bedc5dd1cc4345" /><Relationship Type="http://schemas.openxmlformats.org/officeDocument/2006/relationships/slideLayout" Target="/ppt/slideLayouts/slideLayout1.xml" Id="Rdcb3f8d90a5a49be" /><Relationship Type="http://schemas.openxmlformats.org/officeDocument/2006/relationships/slideLayout" Target="/ppt/slideLayouts/slideLayout2.xml" Id="Rfbcccda38d0d4a6d" /><Relationship Type="http://schemas.openxmlformats.org/officeDocument/2006/relationships/slideLayout" Target="/ppt/slideLayouts/slideLayout3.xml" Id="R766a04fd51ed409d" /><Relationship Type="http://schemas.openxmlformats.org/officeDocument/2006/relationships/slideLayout" Target="/ppt/slideLayouts/slideLayout4.xml" Id="Rb5c7ff3e963344c2" /><Relationship Type="http://schemas.openxmlformats.org/officeDocument/2006/relationships/slideLayout" Target="/ppt/slideLayouts/slideLayout5.xml" Id="R79bf10b8ae7a4e0e" /><Relationship Type="http://schemas.openxmlformats.org/officeDocument/2006/relationships/slideLayout" Target="/ppt/slideLayouts/slideLayout6.xml" Id="R84d20ae3a28b4788" /><Relationship Type="http://schemas.openxmlformats.org/officeDocument/2006/relationships/slideLayout" Target="/ppt/slideLayouts/slideLayout7.xml" Id="R850949cfa8d1492e" /><Relationship Type="http://schemas.openxmlformats.org/officeDocument/2006/relationships/slideLayout" Target="/ppt/slideLayouts/slideLayout8.xml" Id="R3e127631071345b1" /><Relationship Type="http://schemas.openxmlformats.org/officeDocument/2006/relationships/slideLayout" Target="/ppt/slideLayouts/slideLayout9.xml" Id="R85e50062d8174b13" /></Relationships>
</file>

<file path=ppt/slideMasters/slideMaster1.xml><?xml version="1.0" encoding="utf-8"?>
<p:sldMaster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0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9DA403C9-86E6-4E14-A49C-567D97B43A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36600"/>
            <a:ext cx="10515600" cy="9540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F55DA29-0F85-4BB4-B68B-C6A89E5B24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390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8421530-CBB1-451C-97BE-A54E8C73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riangle 8">
            <a:extLst xmlns:a="http://schemas.openxmlformats.org/drawingml/2006/main">
              <a:ext uri="{FF2B5EF4-FFF2-40B4-BE49-F238E27FC236}">
                <a16:creationId xmlns:a16="http://schemas.microsoft.com/office/drawing/2014/main" id="{F1D69161-B57E-4FBF-BF86-D735120B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5d7eb9cf5149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7bff113d414f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F822895-E9BB-4967-9212-A749FA83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65206"/>
            <a:ext cx="12191999" cy="4927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riangle 13">
            <a:extLst xmlns:a="http://schemas.openxmlformats.org/drawingml/2006/main">
              <a:ext uri="{FF2B5EF4-FFF2-40B4-BE49-F238E27FC236}">
                <a16:creationId xmlns:a16="http://schemas.microsoft.com/office/drawing/2014/main" id="{642DC4F0-0D23-4C41-9A23-5D88DE9C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09" y="6121400"/>
            <a:ext cx="1057835" cy="528621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7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5d7eb9cf5149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5" y="6568838"/>
            <a:ext cx="1800223" cy="122236"/>
          </a:xfrm>
          <a:prstGeom xmlns:a="http://schemas.openxmlformats.org/drawingml/2006/main" prst="rect">
            <a:avLst/>
          </a:prstGeom>
        </p:spPr>
      </p:pic>
      <p:pic>
        <p:nvPicPr>
          <p:cNvPr id="28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7bff113d414f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5" y="6517524"/>
            <a:ext cx="2248719" cy="224864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b3f8d90a5a49be"/>
    <p:sldLayoutId xmlns:r="http://schemas.openxmlformats.org/officeDocument/2006/relationships" id="2147483650" r:id="Rfbcccda38d0d4a6d"/>
    <p:sldLayoutId xmlns:r="http://schemas.openxmlformats.org/officeDocument/2006/relationships" id="2147483651" r:id="R766a04fd51ed409d"/>
    <p:sldLayoutId xmlns:r="http://schemas.openxmlformats.org/officeDocument/2006/relationships" id="2147483652" r:id="Rb5c7ff3e963344c2"/>
    <p:sldLayoutId xmlns:r="http://schemas.openxmlformats.org/officeDocument/2006/relationships" id="2147483653" r:id="R79bf10b8ae7a4e0e"/>
    <p:sldLayoutId xmlns:r="http://schemas.openxmlformats.org/officeDocument/2006/relationships" id="2147483654" r:id="R84d20ae3a28b4788"/>
    <p:sldLayoutId xmlns:r="http://schemas.openxmlformats.org/officeDocument/2006/relationships" id="2147483655" r:id="R850949cfa8d1492e"/>
    <p:sldLayoutId xmlns:r="http://schemas.openxmlformats.org/officeDocument/2006/relationships" id="2147483656" r:id="R3e127631071345b1"/>
    <p:sldLayoutId xmlns:r="http://schemas.openxmlformats.org/officeDocument/2006/relationships" id="2147483657" r:id="R85e50062d8174b13"/>
  </p:sldLayoutIdLst>
  <p:txStyles>
    <p:titleStyle>
      <a:lvl1pPr xmlns:a="http://schemas.openxmlformats.org/drawingml/2006/main" algn="l">
        <a:lnSpc>
          <a:spcPct val="90000"/>
        </a:lnSpc>
        <a:buNone/>
        <a:defRPr sz="4400" b="1" i="0">
          <a:solidFill>
            <a:schemeClr val="tx1"/>
          </a:solidFill>
          <a:latin typeface="Helvetica"/>
          <a:ea typeface="Helvetica"/>
          <a:cs typeface="Helvetica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 b="0" i="0">
          <a:solidFill>
            <a:schemeClr val="tx1"/>
          </a:solidFill>
          <a:latin typeface="Helvetica"/>
          <a:ea typeface="Helvetica"/>
          <a:cs typeface="Helvetica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 b="0" i="0">
          <a:solidFill>
            <a:schemeClr val="tx1"/>
          </a:solidFill>
          <a:latin typeface="Helvetica"/>
          <a:ea typeface="Helvetica"/>
          <a:cs typeface="Helvetica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 b="0" i="0">
          <a:solidFill>
            <a:schemeClr val="tx1"/>
          </a:solidFill>
          <a:latin typeface="Helvetica"/>
          <a:ea typeface="Helvetica"/>
          <a:cs typeface="Helvetica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c65fe0322f4ea2" /><Relationship Type="http://schemas.openxmlformats.org/officeDocument/2006/relationships/notesSlide" Target="/ppt/notesSlides/notesSlide1.xml" Id="R52547ada931344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bc6b6b0641a457b" /><Relationship Type="http://schemas.openxmlformats.org/officeDocument/2006/relationships/image" Target="/ppt/media/image.emf" Id="R517f96dc42b449ac" /><Relationship Type="http://schemas.openxmlformats.org/officeDocument/2006/relationships/image" Target="/ppt/media/image2.emf" Id="R74c0fea939354399" /><Relationship Type="http://schemas.openxmlformats.org/officeDocument/2006/relationships/notesSlide" Target="/ppt/notesSlides/notesSlide2.xml" Id="R9a75777931ef49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33484855a4a460d" /><Relationship Type="http://schemas.openxmlformats.org/officeDocument/2006/relationships/image" Target="/ppt/media/image.emf" Id="R13843b8869a94523" /><Relationship Type="http://schemas.openxmlformats.org/officeDocument/2006/relationships/image" Target="/ppt/media/image2.emf" Id="R3a5390292f1c4357" /><Relationship Type="http://schemas.openxmlformats.org/officeDocument/2006/relationships/notesSlide" Target="/ppt/notesSlides/notesSlide3.xml" Id="R9a194c80f5d74e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62701d6f06440d9" /><Relationship Type="http://schemas.openxmlformats.org/officeDocument/2006/relationships/image" Target="/ppt/media/image.emf" Id="Rc37dcc34daf14e22" /><Relationship Type="http://schemas.openxmlformats.org/officeDocument/2006/relationships/image" Target="/ppt/media/image2.emf" Id="Re7d261fe793b4086" /><Relationship Type="http://schemas.openxmlformats.org/officeDocument/2006/relationships/notesSlide" Target="/ppt/notesSlides/notesSlide4.xml" Id="Re250f00555ab4b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4bb2c7e83f946ab" /><Relationship Type="http://schemas.openxmlformats.org/officeDocument/2006/relationships/image" Target="/ppt/media/image.emf" Id="R5d986f7565424fe2" /><Relationship Type="http://schemas.openxmlformats.org/officeDocument/2006/relationships/image" Target="/ppt/media/image2.emf" Id="R79fbf59988454894" /><Relationship Type="http://schemas.openxmlformats.org/officeDocument/2006/relationships/notesSlide" Target="/ppt/notesSlides/notesSlide5.xml" Id="Rdf2ebcc9e38747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819344bf4aa4dc0" /><Relationship Type="http://schemas.openxmlformats.org/officeDocument/2006/relationships/image" Target="/ppt/media/image.emf" Id="Rf76a94fef3b24f2a" /><Relationship Type="http://schemas.openxmlformats.org/officeDocument/2006/relationships/image" Target="/ppt/media/image2.emf" Id="Ra1d1e969477f4c1e" /><Relationship Type="http://schemas.openxmlformats.org/officeDocument/2006/relationships/notesSlide" Target="/ppt/notesSlides/notesSlide6.xml" Id="Rc84e102e322c4e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66f7c3bd3f04f5c" /><Relationship Type="http://schemas.openxmlformats.org/officeDocument/2006/relationships/image" Target="/ppt/media/image.emf" Id="R6e189f670d8348a5" /><Relationship Type="http://schemas.openxmlformats.org/officeDocument/2006/relationships/image" Target="/ppt/media/image2.emf" Id="R929c82a6bb8e4c78" /><Relationship Type="http://schemas.openxmlformats.org/officeDocument/2006/relationships/notesSlide" Target="/ppt/notesSlides/notesSlide7.xml" Id="R8ec2f0f7c51545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38ecc90061847b4" /><Relationship Type="http://schemas.openxmlformats.org/officeDocument/2006/relationships/image" Target="/ppt/media/image.emf" Id="Rd25cb58fa0134648" /><Relationship Type="http://schemas.openxmlformats.org/officeDocument/2006/relationships/image" Target="/ppt/media/image2.emf" Id="R39a17570afd6435d" /><Relationship Type="http://schemas.openxmlformats.org/officeDocument/2006/relationships/notesSlide" Target="/ppt/notesSlides/notesSlide8.xml" Id="R9ed0177635db46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3720f2c041d44c6" /><Relationship Type="http://schemas.openxmlformats.org/officeDocument/2006/relationships/image" Target="/ppt/media/image.emf" Id="Ra0c606f078984de7" /><Relationship Type="http://schemas.openxmlformats.org/officeDocument/2006/relationships/image" Target="/ppt/media/image2.emf" Id="R232e8fbad96b4e4b" /><Relationship Type="http://schemas.openxmlformats.org/officeDocument/2006/relationships/notesSlide" Target="/ppt/notesSlides/notesSlide9.xml" Id="R30573036a4c442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f2a573999c048c3" /><Relationship Type="http://schemas.openxmlformats.org/officeDocument/2006/relationships/image" Target="/ppt/media/image.emf" Id="R26e36b00be444b4f" /><Relationship Type="http://schemas.openxmlformats.org/officeDocument/2006/relationships/image" Target="/ppt/media/image2.emf" Id="Rd72108d4dc214b16" /><Relationship Type="http://schemas.openxmlformats.org/officeDocument/2006/relationships/notesSlide" Target="/ppt/notesSlides/notesSlide10.xml" Id="R25c210ab3b9c4f3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A1DE73-D7A5-4FF1-A5E7-CD4B4259D83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CSULB CS 343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Week 4: Software Architecture &amp; Structural Patterns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D4476C7-6C0B-4518-8FFA-D419ADA447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860574"/>
            <a:ext cx="9144000" cy="1655762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Fall 2026 - Monolith, Microservices, CAP, Cloud, Docker</a:t>
            </a:r>
          </a:p>
        </p:txBody>
      </p:sp>
    </p:spTree>
    <p:extLst>
      <p:ext uri="{BB962C8B-B14F-4D97-AF65-F5344CB8AC3E}">
        <p14:creationId xmlns:p14="http://schemas.microsoft.com/office/powerpoint/2010/main" val="77871827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B63F712F-D185-4847-8570-AFDC9CD68D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86C67C7-B2C5-4E44-81E4-E29B83F3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Learning Objectives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7C8B8F9-FC67-4603-9A72-396A0C9B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What you will achieve today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E4A16A6-32FA-4AD4-A60C-DE9880DA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By the end of this session, you will be able to: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Compare monolith vs microservices architectures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Explain the CAP theorem and its trade-offs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Understand cloud service models (IaaS, PaaS, SaaS)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Containerize apps with Docker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Differentiate RESTful APIs from GraphQL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Make architectural decisions under uncertainty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011165B-9552-4013-B9C9-219AB1B1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BCAD3701-1047-4932-898E-0D022433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7f96dc42b449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c0fea9393543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B63F712F-D185-4847-8570-AFDC9CD68D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86C67C7-B2C5-4E44-81E4-E29B83F3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Monolith Architecture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7C8B8F9-FC67-4603-9A72-396A0C9B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The traditional approach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E4A16A6-32FA-4AD4-A60C-DE9880DA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All code in one deployable unit (one codebase)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Pros: simple to develop, test, deploy; fast internal calls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Cons: scales as a whole; hard to change one part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Tech stack lock-in; large codebases are intimidating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Best for: small teams, MVPs, internal tools, early-stage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Famous monoliths: early Shopify, early Etsy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Advice: Start with a monolith, split when it hurts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011165B-9552-4013-B9C9-219AB1B1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BCAD3701-1047-4932-898E-0D022433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843b8869a945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5390292f1c43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B63F712F-D185-4847-8570-AFDC9CD68D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86C67C7-B2C5-4E44-81E4-E29B83F3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Microservices Architecture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7C8B8F9-FC67-4603-9A72-396A0C9B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Small, independent, and specialized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E4A16A6-32FA-4AD4-A60C-DE9880DA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Each service: small, focused, independently deployable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Services communicate via APIs (HTTP, message queues)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Pros: independent scaling, tech diversity, team autonomy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Cons: network complexity, data consistency, DevOps overhead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Best for: large teams, complex domains, high-scale systems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Examples: Netflix, Amazon, Uber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Microservices are a last resort, not a first choice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011165B-9552-4013-B9C9-219AB1B1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BCAD3701-1047-4932-898E-0D022433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7dcc34daf14e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d261fe793b40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B63F712F-D185-4847-8570-AFDC9CD68D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86C67C7-B2C5-4E44-81E4-E29B83F3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The CAP Theorem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7C8B8F9-FC67-4603-9A72-396A0C9B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Consistency, Availability, Partition Tolerance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E4A16A6-32FA-4AD4-A60C-DE9880DA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In a distributed system, pick 2 of 3: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Consistency (C): every read gets the latest write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Availability (A): every request gets a response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Partition Tolerance (P): system works despite network failures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Real world: networks always fail, so we choose CP or AP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CP example: bank transactions (consistency &gt; availability)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AP example: social media feed (availability &gt; consistency)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Trade-offs depend on the domain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011165B-9552-4013-B9C9-219AB1B1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BCAD3701-1047-4932-898E-0D022433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986f7565424f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fbf599884548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B63F712F-D185-4847-8570-AFDC9CD68D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86C67C7-B2C5-4E44-81E4-E29B83F3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1432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Cloud Computing &amp; Containerization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7C8B8F9-FC67-4603-9A72-396A0C9B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IaaS, PaaS, SaaS, and Docker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E4A16A6-32FA-4AD4-A60C-DE9880DA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IaaS: VMs, storage, networking (AWS EC2, GCP Compute)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PaaS: managed runtime (Heroku, Google App Engine)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SaaS: ready-to-use apps (Gmail, Slack, Notion)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Docker: package app + dependencies into a container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Dockerfile: instructions to build an image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docker build -t myapp . &amp;&amp; docker run myapp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docker-compose.yml: multi-container orchestration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011165B-9552-4013-B9C9-219AB1B1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BCAD3701-1047-4932-898E-0D022433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6a94fef3b24f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d1e969477f4c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B63F712F-D185-4847-8570-AFDC9CD68D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86C67C7-B2C5-4E44-81E4-E29B83F3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RESTful vs GraphQL APIs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7C8B8F9-FC67-4603-9A72-396A0C9B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Two API design philosophies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E4A16A6-32FA-4AD4-A60C-DE9880DA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REST: resources as URLs, HTTP methods (GET, POST, PUT, DELETE)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REST pros: simple, cacheable, well-understood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REST cons: over-fetching / under-fetching data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GraphQL: client queries exactly the data it needs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GraphQL pros: flexible, single endpoint, strong typing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GraphQL cons: complex queries hurt perf, caching harder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Choose REST for CRUD, GraphQL for complex data needs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011165B-9552-4013-B9C9-219AB1B1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BCAD3701-1047-4932-898E-0D022433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189f670d8348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9c82a6bb8e4c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B63F712F-D185-4847-8570-AFDC9CD68D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86C67C7-B2C5-4E44-81E4-E29B83F3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AI Boost: Architecture Analysis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7C8B8F9-FC67-4603-9A72-396A0C9B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Let AI compare trade-offs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E4A16A6-32FA-4AD4-A60C-DE9880DA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Prompt: Compare monolith vs microservices for a real-time chat app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generates pros/cons table - review for bias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Prompt: Generate a Dockerfile for a Python Flask app with PostgreSQL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outputs boilerplate; customize for your project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can scaffold microservice skeletons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Critical: AI may favor modern patterns, evaluate objectively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011165B-9552-4013-B9C9-219AB1B1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BCAD3701-1047-4932-898E-0D022433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5cb58fa01346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a17570afd643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B63F712F-D185-4847-8570-AFDC9CD68D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86C67C7-B2C5-4E44-81E4-E29B83F3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1432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Soft Skills: Decision-Making Under Uncertainty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7C8B8F9-FC67-4603-9A72-396A0C9B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Group debate on architecture choices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E4A16A6-32FA-4AD4-A60C-DE9880DA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Scenario: Fintech banking app vs real-time chat app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Groups debate: monolith vs microservices for their app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Consider: team size, timeline, scaling, compliance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Reference CAP theorem and cloud considerations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Present your decision and justify trade-offs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Lesson: No single right answer - context matters most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011165B-9552-4013-B9C9-219AB1B1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BCAD3701-1047-4932-898E-0D022433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c606f078984d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2e8fbad96b4e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B63F712F-D185-4847-8570-AFDC9CD68D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86C67C7-B2C5-4E44-81E4-E29B83F3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Summary &amp; Looking Ahead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7C8B8F9-FC67-4603-9A72-396A0C9B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Week 4 Recap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E4A16A6-32FA-4AD4-A60C-DE9880DA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Architecture is about trade-offs, not absolutes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CAP theorem guides distributed system choices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Cloud + Docker = flexible, reproducible deployment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REST vs GraphQL: pick the right tool for the job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Next week: Object-Oriented Design &amp; SOLID Principles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Assignment: Write an Architectural Decision Record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011165B-9552-4013-B9C9-219AB1B1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BCAD3701-1047-4932-898E-0D022433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e36b00be444b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2108d4dc214b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theme/theme1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2026-07-14T12:46:57.2690000Z</dcterms:created>
  <dcterms:modified xsi:type="dcterms:W3CDTF">2026-07-14T12:46:57.2690000Z</dcterms:modified>
</coreProperties>
</file>
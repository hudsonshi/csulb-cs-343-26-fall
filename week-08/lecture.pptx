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5252e1ef984e77" /><Relationship Type="http://schemas.openxmlformats.org/officeDocument/2006/relationships/extended-properties" Target="/docProps/app.xml" Id="R8d5c57da4cce47d8" /><Relationship Type="http://schemas.openxmlformats.org/officeDocument/2006/relationships/officeDocument" Target="/ppt/presentation.xml" Id="R4eb47b00236845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7e09ceeb494cdf"/>
  </p:sldMasterIdLst>
  <p:notesMasterIdLst>
    <p:notesMasterId xmlns:r="http://schemas.openxmlformats.org/officeDocument/2006/relationships" r:id="R7530261c91db4b2f"/>
  </p:notesMasterIdLst>
  <p:sldIdLst>
    <p:sldId xmlns:r="http://schemas.openxmlformats.org/officeDocument/2006/relationships" id="256" r:id="Rbcb4ee96f7534023"/>
    <p:sldId xmlns:r="http://schemas.openxmlformats.org/officeDocument/2006/relationships" id="257" r:id="Rab13d504c0b44b87"/>
    <p:sldId xmlns:r="http://schemas.openxmlformats.org/officeDocument/2006/relationships" id="258" r:id="R5d4c614f1911411b"/>
    <p:sldId xmlns:r="http://schemas.openxmlformats.org/officeDocument/2006/relationships" id="259" r:id="Rabe7757c223c4625"/>
    <p:sldId xmlns:r="http://schemas.openxmlformats.org/officeDocument/2006/relationships" id="260" r:id="R916fe1df27614dbf"/>
    <p:sldId xmlns:r="http://schemas.openxmlformats.org/officeDocument/2006/relationships" id="261" r:id="R1d76fbc5e32e4546"/>
    <p:sldId xmlns:r="http://schemas.openxmlformats.org/officeDocument/2006/relationships" id="262" r:id="R938fa43cba204dd0"/>
    <p:sldId xmlns:r="http://schemas.openxmlformats.org/officeDocument/2006/relationships" id="263" r:id="Red6760af71ea46f6"/>
    <p:sldId xmlns:r="http://schemas.openxmlformats.org/officeDocument/2006/relationships" id="264" r:id="R57e38f26473544cf"/>
    <p:sldId xmlns:r="http://schemas.openxmlformats.org/officeDocument/2006/relationships" id="265" r:id="Rfbde6bfc213f4ad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8ff5345c0244fa" /><Relationship Type="http://schemas.openxmlformats.org/officeDocument/2006/relationships/slideMaster" Target="/ppt/slideMasters/slideMaster1.xml" Id="Rfe7e09ceeb494cdf" /><Relationship Type="http://schemas.openxmlformats.org/officeDocument/2006/relationships/notesMaster" Target="/ppt/notesMasters/notesMaster1.xml" Id="R7530261c91db4b2f" /><Relationship Type="http://schemas.openxmlformats.org/officeDocument/2006/relationships/presProps" Target="/ppt/presProps.xml" Id="R69dc345108ea4731" /><Relationship Type="http://schemas.openxmlformats.org/officeDocument/2006/relationships/viewProps" Target="/ppt/viewProps.xml" Id="R10854c81d8aa42fa" /><Relationship Type="http://schemas.openxmlformats.org/officeDocument/2006/relationships/tableStyles" Target="/ppt/tableStyles.xml" Id="R25402438aac0402b" /><Relationship Type="http://schemas.openxmlformats.org/officeDocument/2006/relationships/slide" Target="/ppt/slides/slide1.xml" Id="Rbcb4ee96f7534023" /><Relationship Type="http://schemas.openxmlformats.org/officeDocument/2006/relationships/slide" Target="/ppt/slides/slide2.xml" Id="Rab13d504c0b44b87" /><Relationship Type="http://schemas.openxmlformats.org/officeDocument/2006/relationships/slide" Target="/ppt/slides/slide3.xml" Id="R5d4c614f1911411b" /><Relationship Type="http://schemas.openxmlformats.org/officeDocument/2006/relationships/slide" Target="/ppt/slides/slide4.xml" Id="Rabe7757c223c4625" /><Relationship Type="http://schemas.openxmlformats.org/officeDocument/2006/relationships/slide" Target="/ppt/slides/slide5.xml" Id="R916fe1df27614dbf" /><Relationship Type="http://schemas.openxmlformats.org/officeDocument/2006/relationships/slide" Target="/ppt/slides/slide6.xml" Id="R1d76fbc5e32e4546" /><Relationship Type="http://schemas.openxmlformats.org/officeDocument/2006/relationships/slide" Target="/ppt/slides/slide7.xml" Id="R938fa43cba204dd0" /><Relationship Type="http://schemas.openxmlformats.org/officeDocument/2006/relationships/slide" Target="/ppt/slides/slide8.xml" Id="Red6760af71ea46f6" /><Relationship Type="http://schemas.openxmlformats.org/officeDocument/2006/relationships/slide" Target="/ppt/slides/slide9.xml" Id="R57e38f26473544cf" /><Relationship Type="http://schemas.openxmlformats.org/officeDocument/2006/relationships/slide" Target="/ppt/slides/slide10.xml" Id="Rfbde6bfc213f4a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ae16e2c6b44c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ac77e8a5dc4dc9" /><Relationship Type="http://schemas.openxmlformats.org/officeDocument/2006/relationships/notesMaster" Target="/ppt/notesMasters/notesMaster1.xml" Id="R2344a6e5092d4d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177c8066ad4995" /><Relationship Type="http://schemas.openxmlformats.org/officeDocument/2006/relationships/notesMaster" Target="/ppt/notesMasters/notesMaster1.xml" Id="Rb6c570c8e9d148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0e945eace242b4" /><Relationship Type="http://schemas.openxmlformats.org/officeDocument/2006/relationships/notesMaster" Target="/ppt/notesMasters/notesMaster1.xml" Id="Rd2a9b6dc0e4e4d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881a0379744dce" /><Relationship Type="http://schemas.openxmlformats.org/officeDocument/2006/relationships/notesMaster" Target="/ppt/notesMasters/notesMaster1.xml" Id="Rb2078b49e62847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bf43d4789a4da4" /><Relationship Type="http://schemas.openxmlformats.org/officeDocument/2006/relationships/notesMaster" Target="/ppt/notesMasters/notesMaster1.xml" Id="R7d83a4cf21af4a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c5bc0231264a81" /><Relationship Type="http://schemas.openxmlformats.org/officeDocument/2006/relationships/notesMaster" Target="/ppt/notesMasters/notesMaster1.xml" Id="R147cc919753249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f8293db5d9402c" /><Relationship Type="http://schemas.openxmlformats.org/officeDocument/2006/relationships/notesMaster" Target="/ppt/notesMasters/notesMaster1.xml" Id="R9693298091624f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d6ec3e46af4f3e" /><Relationship Type="http://schemas.openxmlformats.org/officeDocument/2006/relationships/notesMaster" Target="/ppt/notesMasters/notesMaster1.xml" Id="R13798e6f32864a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959a444fb74f2e" /><Relationship Type="http://schemas.openxmlformats.org/officeDocument/2006/relationships/notesMaster" Target="/ppt/notesMasters/notesMaster1.xml" Id="Redae17476fb345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cc9201876b4ff6" /><Relationship Type="http://schemas.openxmlformats.org/officeDocument/2006/relationships/notesMaster" Target="/ppt/notesMasters/notesMaster1.xml" Id="R722e62857b104f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0858436e574e3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41193a3f154b6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e52e3d056443d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9c65763989430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ecfbf5d665480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e0d544fcfa441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8c9da404f447a9" /><Relationship Type="http://schemas.openxmlformats.org/officeDocument/2006/relationships/image" Target="/ppt/media/image.emf" Id="R9ac1a82ac0864208" /><Relationship Type="http://schemas.openxmlformats.org/officeDocument/2006/relationships/image" Target="/ppt/media/image2.emf" Id="R157b4c5e24f043d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22d340e0cf4ab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e1849eb4fc40e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7B0F03F-1352-48CD-8A14-FD5CA74AAB6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B9BCE20-C909-493C-8917-9C30A31B0FB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A13285-F334-42AC-B9B4-1897B28BCC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F9EBD32-6F34-4271-946B-5021F58118C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C2EF12-8A77-4132-ABAD-568B91D41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A17D1AD-15C0-4D33-A64C-78CD3083EE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38E7A9-99C1-4F09-B115-F6995EB1C0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089FE1F-6017-46B9-A6D6-A1694DB7CE8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1ABF865-1DFC-4DBD-A795-C3DACBD540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56897AA-E6B2-40AA-93A3-40E1C427E1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87731D0-CD77-4C76-8523-ADB17A37CB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0B76C43-9824-4BAA-909A-AD4B29B5120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60C6E6A-C823-44A7-BCB3-1F09DEB341F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C20CF35-3C2D-4C40-B523-C29B0D7DCCD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E6BD13-866B-4F69-A997-4AD5D7FA1F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4CC72D-B911-492A-96B3-860D07E155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CEC020A-D535-47B5-919A-D34A09CB1BB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F9F4E76-8F84-4C88-934D-5891BCF3DED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0763571-E26C-4EA5-A6F0-D62E943B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riangle 10">
            <a:extLst xmlns:a="http://schemas.openxmlformats.org/drawingml/2006/main">
              <a:ext uri="{FF2B5EF4-FFF2-40B4-BE49-F238E27FC236}">
                <a16:creationId xmlns:a16="http://schemas.microsoft.com/office/drawing/2014/main" id="{B9EC9DBE-AE44-4791-B6EC-44A04BDC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c1a82ac08642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7b4c5e24f043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4D9EC59-8FB1-4BF1-AA71-DF8E65DF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riangle 15">
            <a:extLst xmlns:a="http://schemas.openxmlformats.org/drawingml/2006/main">
              <a:ext uri="{FF2B5EF4-FFF2-40B4-BE49-F238E27FC236}">
                <a16:creationId xmlns:a16="http://schemas.microsoft.com/office/drawing/2014/main" id="{1F15497F-DE08-42C7-8E98-CD6537BC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c1a82ac08642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7b4c5e24f043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F716929-C239-4E09-BF01-E08FD54B05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DE9F48-CCF0-460B-B52F-23E52ECE76E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D98271D-B1EC-4D87-B434-3C0843DEE4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17ec98a121134843" /><Relationship Type="http://schemas.openxmlformats.org/officeDocument/2006/relationships/image" Target="/ppt/media/image2.emf" Id="R466b42d5d25c4d04" /><Relationship Type="http://schemas.openxmlformats.org/officeDocument/2006/relationships/theme" Target="/ppt/slideMasters/theme/theme2.xml" Id="R73da2e7a63104153" /><Relationship Type="http://schemas.openxmlformats.org/officeDocument/2006/relationships/slideLayout" Target="/ppt/slideLayouts/slideLayout1.xml" Id="Ra5ab749930804db8" /><Relationship Type="http://schemas.openxmlformats.org/officeDocument/2006/relationships/slideLayout" Target="/ppt/slideLayouts/slideLayout2.xml" Id="R8eeefd8ce0294552" /><Relationship Type="http://schemas.openxmlformats.org/officeDocument/2006/relationships/slideLayout" Target="/ppt/slideLayouts/slideLayout3.xml" Id="R9cb8111d7c474152" /><Relationship Type="http://schemas.openxmlformats.org/officeDocument/2006/relationships/slideLayout" Target="/ppt/slideLayouts/slideLayout4.xml" Id="R5ace58445bc54e18" /><Relationship Type="http://schemas.openxmlformats.org/officeDocument/2006/relationships/slideLayout" Target="/ppt/slideLayouts/slideLayout5.xml" Id="Rd73b5b29c7114959" /><Relationship Type="http://schemas.openxmlformats.org/officeDocument/2006/relationships/slideLayout" Target="/ppt/slideLayouts/slideLayout6.xml" Id="R3b9ded7bd46446e6" /><Relationship Type="http://schemas.openxmlformats.org/officeDocument/2006/relationships/slideLayout" Target="/ppt/slideLayouts/slideLayout7.xml" Id="R4aab9d089f9240b0" /><Relationship Type="http://schemas.openxmlformats.org/officeDocument/2006/relationships/slideLayout" Target="/ppt/slideLayouts/slideLayout8.xml" Id="Rd4554a0584e24486" /><Relationship Type="http://schemas.openxmlformats.org/officeDocument/2006/relationships/slideLayout" Target="/ppt/slideLayouts/slideLayout9.xml" Id="Re3906f2f8e4446b7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0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0A4C218-6AFB-43D9-8234-0A68584FFF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6600"/>
            <a:ext cx="10515600" cy="954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1FA5E3B-CBCD-4E6F-8D56-8B0165133E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390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8207BB3-B22D-4BF5-8823-2AB629A2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riangle 8">
            <a:extLst xmlns:a="http://schemas.openxmlformats.org/drawingml/2006/main">
              <a:ext uri="{FF2B5EF4-FFF2-40B4-BE49-F238E27FC236}">
                <a16:creationId xmlns:a16="http://schemas.microsoft.com/office/drawing/2014/main" id="{703B70CE-C586-46B2-94CF-43A4D865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c98a121134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b42d5d25c4d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B0E8EA2-933A-4A36-A31D-2B809773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65206"/>
            <a:ext cx="12191999" cy="492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riangle 13">
            <a:extLst xmlns:a="http://schemas.openxmlformats.org/drawingml/2006/main">
              <a:ext uri="{FF2B5EF4-FFF2-40B4-BE49-F238E27FC236}">
                <a16:creationId xmlns:a16="http://schemas.microsoft.com/office/drawing/2014/main" id="{EADB629D-42E2-4440-9843-CF840E6D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09" y="6121400"/>
            <a:ext cx="1057835" cy="52862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c98a121134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5" y="6568838"/>
            <a:ext cx="1800223" cy="122236"/>
          </a:xfrm>
          <a:prstGeom xmlns:a="http://schemas.openxmlformats.org/drawingml/2006/main" prst="rect">
            <a:avLst/>
          </a:prstGeom>
        </p:spPr>
      </p:pic>
      <p:pic>
        <p:nvPicPr>
          <p:cNvPr id="2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b42d5d25c4d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5" y="6517524"/>
            <a:ext cx="2248719" cy="22486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ab749930804db8"/>
    <p:sldLayoutId xmlns:r="http://schemas.openxmlformats.org/officeDocument/2006/relationships" id="2147483650" r:id="R8eeefd8ce0294552"/>
    <p:sldLayoutId xmlns:r="http://schemas.openxmlformats.org/officeDocument/2006/relationships" id="2147483651" r:id="R9cb8111d7c474152"/>
    <p:sldLayoutId xmlns:r="http://schemas.openxmlformats.org/officeDocument/2006/relationships" id="2147483652" r:id="R5ace58445bc54e18"/>
    <p:sldLayoutId xmlns:r="http://schemas.openxmlformats.org/officeDocument/2006/relationships" id="2147483653" r:id="Rd73b5b29c7114959"/>
    <p:sldLayoutId xmlns:r="http://schemas.openxmlformats.org/officeDocument/2006/relationships" id="2147483654" r:id="R3b9ded7bd46446e6"/>
    <p:sldLayoutId xmlns:r="http://schemas.openxmlformats.org/officeDocument/2006/relationships" id="2147483655" r:id="R4aab9d089f9240b0"/>
    <p:sldLayoutId xmlns:r="http://schemas.openxmlformats.org/officeDocument/2006/relationships" id="2147483656" r:id="Rd4554a0584e24486"/>
    <p:sldLayoutId xmlns:r="http://schemas.openxmlformats.org/officeDocument/2006/relationships" id="2147483657" r:id="Re3906f2f8e4446b7"/>
  </p:sldLayoutIdLst>
  <p:txStyles>
    <p:titleStyle>
      <a:lvl1pPr xmlns:a="http://schemas.openxmlformats.org/drawingml/2006/main" algn="l">
        <a:lnSpc>
          <a:spcPct val="90000"/>
        </a:lnSpc>
        <a:buNone/>
        <a:defRPr sz="4400" b="1" i="0">
          <a:solidFill>
            <a:schemeClr val="tx1"/>
          </a:solidFill>
          <a:latin typeface="Helvetica"/>
          <a:ea typeface="Helvetica"/>
          <a:cs typeface="Helvetica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Helvetica"/>
          <a:ea typeface="Helvetica"/>
          <a:cs typeface="Helvetica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Helvetica"/>
          <a:ea typeface="Helvetica"/>
          <a:cs typeface="Helvetica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Helvetica"/>
          <a:ea typeface="Helvetica"/>
          <a:cs typeface="Helvetica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cfc9c83b2415e" /><Relationship Type="http://schemas.openxmlformats.org/officeDocument/2006/relationships/notesSlide" Target="/ppt/notesSlides/notesSlide1.xml" Id="Reea498e4cc8343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de7f890a4014f1c" /><Relationship Type="http://schemas.openxmlformats.org/officeDocument/2006/relationships/image" Target="/ppt/media/image.emf" Id="Rbf4074fcace74708" /><Relationship Type="http://schemas.openxmlformats.org/officeDocument/2006/relationships/image" Target="/ppt/media/image2.emf" Id="R4e171e89727b4afd" /><Relationship Type="http://schemas.openxmlformats.org/officeDocument/2006/relationships/notesSlide" Target="/ppt/notesSlides/notesSlide2.xml" Id="R930bf8e2d85c48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f5e792c00c949b1" /><Relationship Type="http://schemas.openxmlformats.org/officeDocument/2006/relationships/image" Target="/ppt/media/image.emf" Id="Rf16cfd9b17e3494c" /><Relationship Type="http://schemas.openxmlformats.org/officeDocument/2006/relationships/image" Target="/ppt/media/image2.emf" Id="R33d21a01d9d347c3" /><Relationship Type="http://schemas.openxmlformats.org/officeDocument/2006/relationships/notesSlide" Target="/ppt/notesSlides/notesSlide3.xml" Id="R82a621e40b024c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70182712a3433d" /><Relationship Type="http://schemas.openxmlformats.org/officeDocument/2006/relationships/image" Target="/ppt/media/image.emf" Id="R1e433b2a3bcc406d" /><Relationship Type="http://schemas.openxmlformats.org/officeDocument/2006/relationships/image" Target="/ppt/media/image2.emf" Id="Rbdf823bc47a24701" /><Relationship Type="http://schemas.openxmlformats.org/officeDocument/2006/relationships/notesSlide" Target="/ppt/notesSlides/notesSlide4.xml" Id="Rd7ac875784ce47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3d02f6b94b3491b" /><Relationship Type="http://schemas.openxmlformats.org/officeDocument/2006/relationships/image" Target="/ppt/media/image.emf" Id="Rd785df1850864164" /><Relationship Type="http://schemas.openxmlformats.org/officeDocument/2006/relationships/image" Target="/ppt/media/image2.emf" Id="R0373519bc49046fc" /><Relationship Type="http://schemas.openxmlformats.org/officeDocument/2006/relationships/notesSlide" Target="/ppt/notesSlides/notesSlide5.xml" Id="Rf884043ccf9644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ec5e3bb2c64344" /><Relationship Type="http://schemas.openxmlformats.org/officeDocument/2006/relationships/image" Target="/ppt/media/image.emf" Id="R93c14d8307ee4634" /><Relationship Type="http://schemas.openxmlformats.org/officeDocument/2006/relationships/image" Target="/ppt/media/image2.emf" Id="Ra0c754cea1a340d9" /><Relationship Type="http://schemas.openxmlformats.org/officeDocument/2006/relationships/notesSlide" Target="/ppt/notesSlides/notesSlide6.xml" Id="Ra6222d48838145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0676bf970174b2e" /><Relationship Type="http://schemas.openxmlformats.org/officeDocument/2006/relationships/image" Target="/ppt/media/image.emf" Id="R258c07b94fb64759" /><Relationship Type="http://schemas.openxmlformats.org/officeDocument/2006/relationships/image" Target="/ppt/media/image2.emf" Id="Ra49e44b0f8e24029" /><Relationship Type="http://schemas.openxmlformats.org/officeDocument/2006/relationships/notesSlide" Target="/ppt/notesSlides/notesSlide7.xml" Id="R614bb9b29d4149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c54f3096d2a4b63" /><Relationship Type="http://schemas.openxmlformats.org/officeDocument/2006/relationships/image" Target="/ppt/media/image.emf" Id="R1a99a299efca4e6f" /><Relationship Type="http://schemas.openxmlformats.org/officeDocument/2006/relationships/image" Target="/ppt/media/image2.emf" Id="R3122647c773a47c7" /><Relationship Type="http://schemas.openxmlformats.org/officeDocument/2006/relationships/notesSlide" Target="/ppt/notesSlides/notesSlide8.xml" Id="Rddc6e40a59ac44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4d7a1066574788" /><Relationship Type="http://schemas.openxmlformats.org/officeDocument/2006/relationships/image" Target="/ppt/media/image.emf" Id="Rf190772e6037413e" /><Relationship Type="http://schemas.openxmlformats.org/officeDocument/2006/relationships/image" Target="/ppt/media/image2.emf" Id="Rcf21a23f9a4749e3" /><Relationship Type="http://schemas.openxmlformats.org/officeDocument/2006/relationships/notesSlide" Target="/ppt/notesSlides/notesSlide9.xml" Id="Rbe8874e9b1ef43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b89730bd484c09" /><Relationship Type="http://schemas.openxmlformats.org/officeDocument/2006/relationships/image" Target="/ppt/media/image.emf" Id="R79c65dd93a204fe0" /><Relationship Type="http://schemas.openxmlformats.org/officeDocument/2006/relationships/image" Target="/ppt/media/image2.emf" Id="R128dd53c74e94a1a" /><Relationship Type="http://schemas.openxmlformats.org/officeDocument/2006/relationships/notesSlide" Target="/ppt/notesSlides/notesSlide10.xml" Id="R742aeb37d5cf42e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A1DE73-D7A5-4FF1-A5E7-CD4B4259D8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CSULB CS 343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8: Software Testing Strategies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4476C7-6C0B-4518-8FFA-D419ADA447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860574"/>
            <a:ext cx="9144000" cy="1655762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Fall 2026 - Unit, Integration, Load Testing with pytest</a:t>
            </a:r>
          </a:p>
        </p:txBody>
      </p:sp>
    </p:spTree>
    <p:extLst>
      <p:ext uri="{BB962C8B-B14F-4D97-AF65-F5344CB8AC3E}">
        <p14:creationId xmlns:p14="http://schemas.microsoft.com/office/powerpoint/2010/main" val="7787182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367506D1-6E46-4D1D-A0A2-8F18B3923E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92EE628-48B3-4AEE-B1FB-B88A6126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Learning Objectives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E246949-C7D1-4633-870E-85A8C7FB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What you will achieve today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4D3C363-03E2-4474-8ABA-527F8FF0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By the end of this session, you will be able to: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Write unit tests with pytest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Create integration tests for API endpoints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Understand black-box vs white-box testing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Run load tests to measure performance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Measure test coverage and find edge cases with AI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293B29B-DD9E-43FE-9529-46A2B569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215B7FFE-BC8F-4F6F-9940-456A80C8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4074fcace747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171e89727b4a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367506D1-6E46-4D1D-A0A2-8F18B3923E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92EE628-48B3-4AEE-B1FB-B88A6126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Why Testing Matters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E246949-C7D1-4633-870E-85A8C7FB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Quality is not accidental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4D3C363-03E2-4474-8ABA-527F8FF0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Without tests: every change is risky, bugs pile up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Testing pyramid: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Unit tests (fast, many): test individual functions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Integration tests (medium): test component interactions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End-to-end tests (slow, few): test complete workflows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Test-driven development (TDD): write tests first, then code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Good tests = documentation + safety net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can help generate test cases and find edge cases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293B29B-DD9E-43FE-9529-46A2B569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215B7FFE-BC8F-4F6F-9940-456A80C8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cfd9b17e349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d21a01d9d347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367506D1-6E46-4D1D-A0A2-8F18B3923E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92EE628-48B3-4AEE-B1FB-B88A6126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Unit Testing with pytest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E246949-C7D1-4633-870E-85A8C7FB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Testing individual functions and classes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4D3C363-03E2-4474-8ABA-527F8FF0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pytest: simple, powerful Python testing framework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Install: pip install pytest pytest-cov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Write test functions in test_*.py files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Example: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def test_add():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  assert add(2, 3) == 5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Run: pytest (discovers and runs all tests)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Fixtures: reusable test setup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Parametrize: test multiple inputs with one function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293B29B-DD9E-43FE-9529-46A2B569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215B7FFE-BC8F-4F6F-9940-456A80C8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433b2a3bcc40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823bc47a247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367506D1-6E46-4D1D-A0A2-8F18B3923E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92EE628-48B3-4AEE-B1FB-B88A6126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Integration Testing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E246949-C7D1-4633-870E-85A8C7FB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Testing how components work together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4D3C363-03E2-4474-8ABA-527F8FF0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Test database interactions, API endpoints, external services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Use TestClient (FastAPI): from fastapi.testclient import TestClient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Example: POST to /api/users/register, check response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Use fixtures to set up test database (in-memory SQLite)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Mock external services to avoid real network calls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pytest markers: @pytest.mark.integration to categorize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Integration tests catch bugs unit tests miss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293B29B-DD9E-43FE-9529-46A2B569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215B7FFE-BC8F-4F6F-9940-456A80C8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85df18508641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3519bc49046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367506D1-6E46-4D1D-A0A2-8F18B3923E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92EE628-48B3-4AEE-B1FB-B88A6126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Black-Box &amp; Load Testing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E246949-C7D1-4633-870E-85A8C7FB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Testing behavior and performance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4D3C363-03E2-4474-8ABA-527F8FF0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Black-box: test without knowing internal code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Focus on inputs and outputs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Includes: boundary values, invalid inputs, edge cases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Load testing: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JMeter: simulate many concurrent users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Locust: Python-based load testing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Check: response times, error rates, throughput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Know your thresholds: p95 response time &lt; 500ms typical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293B29B-DD9E-43FE-9529-46A2B569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215B7FFE-BC8F-4F6F-9940-456A80C8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c14d8307ee46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c754cea1a340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367506D1-6E46-4D1D-A0A2-8F18B3923E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92EE628-48B3-4AEE-B1FB-B88A6126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Test Coverage &amp; Mutation Testing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E246949-C7D1-4633-870E-85A8C7FB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How thorough are your tests?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4D3C363-03E2-4474-8ABA-527F8FF0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Coverage: what percentage of code is executed by tests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Run: pytest --cov=myapp --cov-report=html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Aim for 80%+ coverage, but don't chase 100% blindly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Mutation testing: introduce small bugs, see if tests catch them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Tools: mutmut, cosmic-ray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If mutation survives: your test isn't testing enough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Coverage != quality; meaningful assertions matter more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293B29B-DD9E-43FE-9529-46A2B569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215B7FFE-BC8F-4F6F-9940-456A80C8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c07b94fb647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9e44b0f8e240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367506D1-6E46-4D1D-A0A2-8F18B3923E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92EE628-48B3-4AEE-B1FB-B88A6126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AI Boost: Generate Test Cases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E246949-C7D1-4633-870E-85A8C7FB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Let AI find edge cases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4D3C363-03E2-4474-8ABA-527F8FF0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Provide your code to AI and ask for test cases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Prompt: Generate pytest tests for this function, including edge cases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outputs test code covering: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Normal cases (valid inputs)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Boundary cases (empty strings, max values)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Error cases (invalid inputs, exceptions)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Review and run the tests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can also find flaky tests and suggest fixes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293B29B-DD9E-43FE-9529-46A2B569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215B7FFE-BC8F-4F6F-9940-456A80C8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99a299efca4e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22647c773a47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367506D1-6E46-4D1D-A0A2-8F18B3923E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92EE628-48B3-4AEE-B1FB-B88A6126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Soft Skills: Quality Culture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E246949-C7D1-4633-870E-85A8C7FB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Writing a testing manifesto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4D3C363-03E2-4474-8ABA-527F8FF0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Activity: In groups, write a 5-point 'Testing Manifesto' for your team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Examples: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1. Every PR must include tests for new functionality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2. No code goes to production without passing CI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3. All tests must be deterministic (no random failures)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Share lessons from a bug-hunting session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Discuss: How do you balance speed vs quality?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Lesson: Quality is everyone's responsibility, not just QA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293B29B-DD9E-43FE-9529-46A2B569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215B7FFE-BC8F-4F6F-9940-456A80C8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0772e603741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21a23f9a4749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367506D1-6E46-4D1D-A0A2-8F18B3923E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92EE628-48B3-4AEE-B1FB-B88A6126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Summary &amp; Looking Ahead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E246949-C7D1-4633-870E-85A8C7FB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Week 8 Recap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4D3C363-03E2-4474-8ABA-527F8FF0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pytest makes unit testing fast and Pythonic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Integration tests verify component interactions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Load testing catches performance issues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Coverage helps, but meaningful assertions matter more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generates test cases; we verify and refine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Next week: CI/CD &amp; DevOps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Assignment: Test suite for Week 7 API + bug report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293B29B-DD9E-43FE-9529-46A2B569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215B7FFE-BC8F-4F6F-9940-456A80C8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65dd93a204f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8dd53c74e94a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theme/theme1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2026-07-14T12:46:59.8270000Z</dcterms:created>
  <dcterms:modified xsi:type="dcterms:W3CDTF">2026-07-14T12:46:59.8270000Z</dcterms:modified>
</coreProperties>
</file>